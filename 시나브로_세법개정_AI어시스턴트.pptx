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7315200" cy="6400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800" b="0">
                <a:solidFill>
                  <a:srgbClr val="3B82F6"/>
                </a:solidFill>
              </a:defRPr>
            </a:pPr>
            <a:r>
              <a:t>팀 시나브로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8229600" cy="1371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세법개정 AI 어시스턴트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731520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2000" b="0">
                <a:solidFill>
                  <a:srgbClr val="DBEAFE"/>
                </a:solidFill>
              </a:defRPr>
            </a:pPr>
            <a:r>
              <a:t>AI Agent 기반 법령 개정 자동화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114800"/>
            <a:ext cx="27432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640080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조장  김의택</a:t>
            </a:r>
            <a:br/>
            <a:r>
              <a:t>조원  이금석 · 이주호 · 전명수 · 조외영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943600"/>
            <a:ext cx="36576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2025년 기획재정부 AI 업무혁신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3657600" cy="6400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2800" b="1">
                <a:solidFill>
                  <a:srgbClr val="1B2A4A"/>
                </a:solidFill>
              </a:defRPr>
            </a:pPr>
            <a: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371600"/>
            <a:ext cx="54864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업무 현황 및 페인포인트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103120"/>
            <a:ext cx="54864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AI 서비스 적용 아이디어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834640"/>
            <a:ext cx="54864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시스템 구현 개요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566160"/>
            <a:ext cx="54864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핵심 기능 시연 흐름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4297680"/>
            <a:ext cx="54864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기술 아키텍처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5029200"/>
            <a:ext cx="54864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활용 방안 및 확장 가능성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7607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760720"/>
            <a:ext cx="54864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기대 효과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01  업무 현황 및 페인포인트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현황: 법제처 법령안편집기 3.1 활용 중</a:t>
            </a:r>
            <a:br/>
            <a:r>
              <a:t>→ 개정지시문·신구조문대비표 자동 생성만 가능, 나머지는 100% 수작업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620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7772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❶ 유사 입법례 검색의 어려움</a:t>
            </a:r>
            <a:br/>
            <a:r>
              <a:t>방대한 법령 DB에서 유사 표현을 직접 찾아 참조해야 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37560"/>
            <a:ext cx="7620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7772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❷ 인용·준용 규정 연쇄 개정 누락 ★</a:t>
            </a:r>
            <a:br/>
            <a:r>
              <a:t>"제3항에서 제7항까지" 등 범위 인용 → Ctrl+F로 탐지 불가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7620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7772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❸ 병행 법령 개정 누락 ★</a:t>
            </a:r>
            <a:br/>
            <a:r>
              <a:t>소득세법↔법인세법 동일 취지 개편 시 소관부서 구분으로 누락 빈번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40679"/>
            <a:ext cx="7620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440679"/>
            <a:ext cx="7772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❹ 부칙 효력 판단 오류</a:t>
            </a:r>
            <a:br/>
            <a:r>
              <a:t>장래효·부진정소급효 구분 미숙 → 부칙 누락 또는 오기 발생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217920"/>
            <a:ext cx="82296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⚠ 제도 총괄부처 이미지 악화 + 불필요한 법령 개정 절차 반복 → AI Agent로 해결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02  AI 서비스 적용 아이디어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548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💡 입력: 세법개정 요강(개정 핵심 내용)만 텍스트로 입력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9144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468880"/>
            <a:ext cx="27432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개정 조문 초안 자동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926080"/>
            <a:ext cx="274320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AI가 유사 입법례를 참조하여 조문 구조 자동 작성</a:t>
            </a:r>
            <a:br/>
            <a:r>
              <a:t>• 부칙 유형(장래효/부진정소급효 등) 선택 시 AI 자동 출력</a:t>
            </a:r>
            <a:br/>
            <a:r>
              <a:t>• 병행 법령(소득세법↔법인세법) 동시 개정안 자동 탐색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011680"/>
            <a:ext cx="9144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2단계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468880"/>
            <a:ext cx="27432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인용·준용 규정 연쇄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926080"/>
            <a:ext cx="274320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동일 법령 내, 법·령·칙 간, 타 법령 간 인용 분석</a:t>
            </a:r>
            <a:br/>
            <a:r>
              <a:t>• 조문 번호 밀림 영향도 자동 검사</a:t>
            </a:r>
            <a:br/>
            <a:r>
              <a:t>• 사용자가 일괄반영 또는 일부반영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91440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468880"/>
            <a:ext cx="27432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공식 문서 자동 출력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926080"/>
            <a:ext cx="274320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개정지시문 + 신구조문대비표 자동 작성</a:t>
            </a:r>
            <a:br/>
            <a:r>
              <a:t>• 한글(HWPX) 파일로 즉시 출력</a:t>
            </a:r>
            <a:br/>
            <a:r>
              <a:t>• 법령안편집기 3.1과 동일한 포맷 유지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103120"/>
            <a:ext cx="27432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8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103120"/>
            <a:ext cx="27432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8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69280"/>
            <a:ext cx="822960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📄 최종 출력: 법령별 개정안 HWPX 파일 (현행 빨간색 삭제, 개정안 파란색 신설)</a:t>
            </a:r>
            <a:br/>
            <a:r>
              <a:t>     → 법령안편집기 없이도 즉시 활용 가능한 공식 문서 형태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03  시스템 구현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0116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8288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200" b="1">
                <a:solidFill>
                  <a:srgbClr val="1B2A4A"/>
                </a:solidFill>
              </a:defRPr>
            </a:pPr>
            <a:r>
              <a:t>🤖 생성형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20240"/>
            <a:ext cx="1828800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GPT 기반 대규모 언어모델이</a:t>
            </a:r>
            <a:br/>
            <a:r>
              <a:t>법률 문맥을 이해하고</a:t>
            </a:r>
            <a:br/>
            <a:r>
              <a:t>개정 초안을 자동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79" y="1188720"/>
            <a:ext cx="20116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19" y="1371600"/>
            <a:ext cx="18288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200" b="1">
                <a:solidFill>
                  <a:srgbClr val="1B2A4A"/>
                </a:solidFill>
              </a:defRPr>
            </a:pPr>
            <a:r>
              <a:t>🏛 법제처 Open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19" y="1920240"/>
            <a:ext cx="1828800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현행 법령 원문을 실시간 조회</a:t>
            </a:r>
            <a:br/>
            <a:r>
              <a:t>최신 법령 데이터 기반</a:t>
            </a:r>
            <a:br/>
            <a:r>
              <a:t>정확한 조문 참조 보장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20116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0" y="1371600"/>
            <a:ext cx="18288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200" b="1">
                <a:solidFill>
                  <a:srgbClr val="1B2A4A"/>
                </a:solidFill>
              </a:defRPr>
            </a:pPr>
            <a:r>
              <a:t>🔍 지능형 인용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920240"/>
            <a:ext cx="1828800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정규식+AI 하이브리드로</a:t>
            </a:r>
            <a:br/>
            <a:r>
              <a:t>인용·준용 규정 자동 탐지</a:t>
            </a:r>
            <a:br/>
            <a:r>
              <a:t>조문 번호 밀림 연쇄 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7999" y="1188720"/>
            <a:ext cx="20116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39" y="1371600"/>
            <a:ext cx="18288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200" b="1">
                <a:solidFill>
                  <a:srgbClr val="1B2A4A"/>
                </a:solidFill>
              </a:defRPr>
            </a:pPr>
            <a:r>
              <a:t>📝 HWPX 문서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39" y="1920240"/>
            <a:ext cx="1828800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법제처 공식 포맷 준수</a:t>
            </a:r>
            <a:br/>
            <a:r>
              <a:t>신구조문대비표 자동 편집</a:t>
            </a:r>
            <a:br/>
            <a:r>
              <a:t>색상 코딩된 변경 표시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82296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▎ End-to-End 자동화 파이프라인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754880"/>
            <a:ext cx="118872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법령 검색</a:t>
            </a:r>
            <a:br/>
            <a:r>
              <a:t>&amp; 조문 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5120640"/>
            <a:ext cx="1828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83080" y="4754880"/>
            <a:ext cx="118872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개정 요강</a:t>
            </a:r>
            <a:br/>
            <a:r>
              <a:t>입력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5120640"/>
            <a:ext cx="1828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0" y="4754880"/>
            <a:ext cx="118872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 초안</a:t>
            </a:r>
            <a:br/>
            <a:r>
              <a:t>생성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5120640"/>
            <a:ext cx="1828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17720" y="4754880"/>
            <a:ext cx="118872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인용규정</a:t>
            </a:r>
            <a:br/>
            <a:r>
              <a:t>연쇄 분석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5120640"/>
            <a:ext cx="1828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040" y="4754880"/>
            <a:ext cx="118872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병행법령</a:t>
            </a:r>
            <a:br/>
            <a:r>
              <a:t>자동 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5120640"/>
            <a:ext cx="1828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52360" y="4754880"/>
            <a:ext cx="1188720" cy="914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HWPX</a:t>
            </a:r>
            <a:br/>
            <a:r>
              <a:t>출력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35040"/>
            <a:ext cx="82296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✓ 사용자는 '무엇을 개정할지'만 입력 → AI가 '어떻게 개정할지' 전 과정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04  핵심 기능 시연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82296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274320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법령 검색 &amp; 조문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05840"/>
            <a:ext cx="4754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법령명을 입력하면 법제처 Open API로</a:t>
            </a:r>
            <a:br/>
            <a:r>
              <a:t>실시간 검색. 개정할 조문을 직접 선택.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822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274320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개정 요강 입력 &amp; AI 초안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103120"/>
            <a:ext cx="4754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"법인세율 20%→19% 인하" 등 핵심만 입력.</a:t>
            </a:r>
            <a:br/>
            <a:r>
              <a:t>AI가 유사 입법례를 참조해 조문 초안 즉시 생성.</a:t>
            </a:r>
            <a:br/>
            <a:r>
              <a:t>부칙 유형 선택 시 적용례까지 자동 작성.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91839"/>
            <a:ext cx="8229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291839"/>
            <a:ext cx="274320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인용 규정 연쇄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200399"/>
            <a:ext cx="4754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개정 조문을 인용하는 모든 규정 자동 탐지.</a:t>
            </a:r>
            <a:br/>
            <a:r>
              <a:t>"제3항~제7항" 범위 인용도 정밀 분석.</a:t>
            </a:r>
            <a:br/>
            <a:r>
              <a:t>조문 번호 밀림 영향까지 사전 경고.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389120"/>
            <a:ext cx="82296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274320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병행 법령 동시 개정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297680"/>
            <a:ext cx="4754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소득세법↔법인세법 등 동일 취지 제도를</a:t>
            </a:r>
            <a:br/>
            <a:r>
              <a:t>AI가 자동으로 크로스체크.</a:t>
            </a:r>
            <a:br/>
            <a:r>
              <a:t>누락 없는 일괄 개정안 생성.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486400"/>
            <a:ext cx="82296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486400"/>
            <a:ext cx="274320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HWPX 공식 문서 출력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5394960"/>
            <a:ext cx="4754880" cy="914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신구조문대비표를 법제처 포맷 그대로</a:t>
            </a:r>
            <a:br/>
            <a:r>
              <a:t>HWPX 파일로 즉시 생성.</a:t>
            </a:r>
            <a:br/>
            <a:r>
              <a:t>현행(빨강)·개정안(파랑) 색상 구분 표시.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05  기술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768096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32004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사용자 인터페이스 계층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713232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웹 기반 인터랙티브 UI · 실시간 미리보기 · 단계별 가이드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768096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32004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AI 에이전트 계층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713232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대규모 언어모델(LLM) · 법률 도메인 특화 프롬프트 · 유사 입법례 추론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768096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749040"/>
            <a:ext cx="32004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법령 분석 엔진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713232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인용 규정 정규식 파서 · 조문 번호 밀림 분석 · 병행 법령 의미 매칭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7680960" cy="1005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5029200"/>
            <a:ext cx="32004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데이터 소스 계층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94960"/>
            <a:ext cx="713232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법제처 Open API (실시간) · 세법 동의어 사전 · 부칙 템플릿 라이브러리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126480"/>
            <a:ext cx="7680960" cy="457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📎 출력 포맷: HWPX (한글 공식) · 신구조문대비표 · 개정지시문 · 부칙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06  활용 방안 및 확장 가능성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▎ 현재 활용 방안 (세제실)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6576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정기 세법개정 시 개정안 초안 일괄 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6576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인용 규정 누락 사전 방지 (Zero-Miss 목표)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6576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소득세법↔법인세법 병행 개정 자동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36576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신규 담당자 부칙 작성 가이드 역할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36576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법령안편집기 로딩 오류 회피 (독립 시스템)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393192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▎ 확장 가능성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645920"/>
            <a:ext cx="365760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1691640"/>
            <a:ext cx="3474720" cy="4114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🏦 금융위  자본시장법, 보험업법 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286000"/>
            <a:ext cx="365760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7760" y="2331720"/>
            <a:ext cx="3474720" cy="4114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🏗 국토부  건축법, 주택법 시행령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926080"/>
            <a:ext cx="365760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2971800"/>
            <a:ext cx="3474720" cy="4114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👨‍⚕ 복지부  국민건강보험법, 의료법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3566159"/>
            <a:ext cx="365760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37760" y="3611879"/>
            <a:ext cx="3474720" cy="4114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⚖ 법무부  형법, 민법 개정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4206240"/>
            <a:ext cx="365760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60" y="4251960"/>
            <a:ext cx="3474720" cy="4114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🌐 범정부  모든 법률·시행령·시행규칙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29200"/>
            <a:ext cx="82296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▎ 미래 확장 로드맵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77840"/>
            <a:ext cx="1828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623560"/>
            <a:ext cx="164592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1</a:t>
            </a:r>
            <a:br/>
            <a:r>
              <a:t>(현재)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989320"/>
            <a:ext cx="1645920" cy="4114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세법 특화</a:t>
            </a:r>
            <a:br/>
            <a:r>
              <a:t>프로토타입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59" y="5989320"/>
            <a:ext cx="1828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51760" y="5577840"/>
            <a:ext cx="182880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43200" y="5623560"/>
            <a:ext cx="164592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989320"/>
            <a:ext cx="1645920" cy="4114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법·령·칙</a:t>
            </a:r>
            <a:br/>
            <a:r>
              <a:t>전체 연동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79" y="5989320"/>
            <a:ext cx="1828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54879" y="5577840"/>
            <a:ext cx="182880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46319" y="5623560"/>
            <a:ext cx="164592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19" y="5989320"/>
            <a:ext cx="1645920" cy="4114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타 부처</a:t>
            </a:r>
            <a:br/>
            <a:r>
              <a:t>법령 확장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398" y="5989320"/>
            <a:ext cx="1828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7999" y="5577840"/>
            <a:ext cx="18288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49439" y="5623560"/>
            <a:ext cx="164592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39" y="5989320"/>
            <a:ext cx="1645920" cy="4114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범정부</a:t>
            </a:r>
            <a:br/>
            <a:r>
              <a:t>입법 플랫폼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07  기대 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011680" cy="2194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25880"/>
            <a:ext cx="18288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⏱ 업무 시간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8288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70% 단축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377440"/>
            <a:ext cx="182880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법령 개정안 초안 작성</a:t>
            </a:r>
            <a:br/>
            <a:r>
              <a:t>수일 → 수 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1188720"/>
            <a:ext cx="2011680" cy="2194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19" y="1325880"/>
            <a:ext cx="18288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🎯 정확도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19" y="1737360"/>
            <a:ext cx="18288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인용 누락 0건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19" y="2377440"/>
            <a:ext cx="182880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AI 전수 검사로</a:t>
            </a:r>
            <a:br/>
            <a:r>
              <a:t>연쇄 개정 누락 방지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188720"/>
            <a:ext cx="2011680" cy="2194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1325880"/>
            <a:ext cx="18288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⚡ 처리 속도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737360"/>
            <a:ext cx="18288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실시간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377440"/>
            <a:ext cx="182880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법령 로딩 오류 제거</a:t>
            </a:r>
            <a:br/>
            <a:r>
              <a:t>즉시 조문 조회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7999" y="1188720"/>
            <a:ext cx="2011680" cy="2194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39" y="1325880"/>
            <a:ext cx="18288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📊 커버리지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39" y="1737360"/>
            <a:ext cx="18288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6개 법령 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39" y="2377440"/>
            <a:ext cx="182880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병행 법령 자동 탐지</a:t>
            </a:r>
            <a:br/>
            <a:r>
              <a:t>확장 구조 확보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57600"/>
            <a:ext cx="82296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▎ 정성적 기대 효과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77724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제도 총괄부처로서의 신뢰도 회복 — 개정 누락·오기로 인한 이미지 악화 원천 차단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72000"/>
            <a:ext cx="77724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불필요한 법령 개정 절차 반복 제거 — 보완 개정 건수 대폭 감소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77724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신규 담당자 온보딩 시간 단축 — AI가 부칙 유형·인용 규정 가이드 역할 수행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86400"/>
            <a:ext cx="77724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정기 세법개정 시즌 업무 부하 획기적 경감 — 핵심 정책 검토에 집중 가능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943600"/>
            <a:ext cx="7772400" cy="3657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디지털 전환 선도 부처 위상 확립 — AI 기반 입법 지원의 정부 최초 사례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315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"AI가 법령을 이해하고,</a:t>
            </a:r>
            <a:br/>
            <a:r>
              <a:t>사람은 정책에 집중하는 시대"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640080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800" b="0">
                <a:solidFill>
                  <a:srgbClr val="3B82F6"/>
                </a:solidFill>
              </a:defRPr>
            </a:pPr>
            <a:r>
              <a:t>세법개정의 패러다임을 바꾸는 첫 걸음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27432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54864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팀 시나브로</a:t>
            </a:r>
            <a:br/>
            <a:r>
              <a:t>김의택 · 이금석 · 이주호 · 전명수 · 조외영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5760720"/>
            <a:ext cx="45720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bIns="108000" lIns="144000" rIns="1440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